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C57"/>
        </a:solidFill>
        <a:effectLst/>
      </p:bgPr>
    </p:bg>
    <p:spTree>
      <p:nvGrpSpPr>
        <p:cNvPr id="1" name=""/>
        <p:cNvGrpSpPr/>
        <p:nvPr/>
      </p:nvGrpSpPr>
      <p:grpSpPr/>
      <p:sp>
        <p:nvSpPr>
          <p:cNvPr id="2" name="Rectangle 1"/>
          <p:cNvSpPr/>
          <p:nvPr/>
        </p:nvSpPr>
        <p:spPr>
          <a:xfrm>
            <a:off x="0" y="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972800" cy="1280160"/>
          </a:xfrm>
          <a:prstGeom prst="rect">
            <a:avLst/>
          </a:prstGeom>
          <a:noFill/>
        </p:spPr>
        <p:txBody>
          <a:bodyPr wrap="square">
            <a:spAutoFit/>
          </a:bodyPr>
          <a:lstStyle/>
          <a:p>
            <a:pPr algn="ctr"/>
            <a:r>
              <a:rPr b="1" sz="3200">
                <a:solidFill>
                  <a:srgbClr val="FFFFFF"/>
                </a:solidFill>
              </a:rPr>
              <a:t>Inspection Information Available For V-2201 Report</a:t>
            </a:r>
          </a:p>
        </p:txBody>
      </p:sp>
      <p:sp>
        <p:nvSpPr>
          <p:cNvPr id="4" name="TextBox 3"/>
          <p:cNvSpPr txBox="1"/>
          <p:nvPr/>
        </p:nvSpPr>
        <p:spPr>
          <a:xfrm>
            <a:off x="548640" y="2743200"/>
            <a:ext cx="10972800" cy="548640"/>
          </a:xfrm>
          <a:prstGeom prst="rect">
            <a:avLst/>
          </a:prstGeom>
          <a:noFill/>
        </p:spPr>
        <p:txBody>
          <a:bodyPr wrap="square">
            <a:spAutoFit/>
          </a:bodyPr>
          <a:lstStyle/>
          <a:p>
            <a:pPr algn="ctr"/>
            <a:r>
              <a:rPr b="0" sz="1400">
                <a:solidFill>
                  <a:srgbClr val="AAC4E0"/>
                </a:solidFill>
              </a:rPr>
              <a:t>Sovereign AI Engineering Workbench  |  2026-09-14 22:30 UTC</a:t>
            </a:r>
          </a:p>
        </p:txBody>
      </p:sp>
      <p:sp>
        <p:nvSpPr>
          <p:cNvPr id="5" name="TextBox 4"/>
          <p:cNvSpPr txBox="1"/>
          <p:nvPr/>
        </p:nvSpPr>
        <p:spPr>
          <a:xfrm>
            <a:off x="548640" y="3474720"/>
            <a:ext cx="10972800" cy="457200"/>
          </a:xfrm>
          <a:prstGeom prst="rect">
            <a:avLst/>
          </a:prstGeom>
          <a:noFill/>
        </p:spPr>
        <p:txBody>
          <a:bodyPr wrap="square">
            <a:spAutoFit/>
          </a:bodyPr>
          <a:lstStyle/>
          <a:p>
            <a:pPr algn="ctr"/>
            <a:r>
              <a:rPr b="0" sz="1100">
                <a:solidFill>
                  <a:srgbClr val="AAC4E0"/>
                </a:solidFill>
              </a:rPr>
              <a:t>Grounded: Caution  •  Confidence: 43.9%  •  Model: qwen2.5-1.5b-instruct</a:t>
            </a:r>
          </a:p>
        </p:txBody>
      </p:sp>
      <p:sp>
        <p:nvSpPr>
          <p:cNvPr id="6" name="Rectangle 5"/>
          <p:cNvSpPr/>
          <p:nvPr/>
        </p:nvSpPr>
        <p:spPr>
          <a:xfrm>
            <a:off x="0" y="653796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731520"/>
          </a:xfrm>
          <a:prstGeom prst="rect">
            <a:avLst/>
          </a:prstGeom>
          <a:noFill/>
        </p:spPr>
        <p:txBody>
          <a:bodyPr wrap="square">
            <a:spAutoFit/>
          </a:bodyPr>
          <a:lstStyle/>
          <a:p>
            <a:pPr algn="l"/>
            <a:r>
              <a:rPr b="1" sz="2000">
                <a:solidFill>
                  <a:srgbClr val="FFFFFF"/>
                </a:solidFill>
              </a:rPr>
              <a:t>Executive Summary</a:t>
            </a:r>
          </a:p>
        </p:txBody>
      </p:sp>
      <p:sp>
        <p:nvSpPr>
          <p:cNvPr id="4" name="TextBox 3"/>
          <p:cNvSpPr txBox="1"/>
          <p:nvPr/>
        </p:nvSpPr>
        <p:spPr>
          <a:xfrm>
            <a:off x="457200" y="1188720"/>
            <a:ext cx="11247120" cy="1097280"/>
          </a:xfrm>
          <a:prstGeom prst="rect">
            <a:avLst/>
          </a:prstGeom>
          <a:noFill/>
        </p:spPr>
        <p:txBody>
          <a:bodyPr wrap="square">
            <a:spAutoFit/>
          </a:bodyPr>
          <a:lstStyle/>
          <a:p>
            <a:pPr algn="l"/>
            <a:r>
              <a:rPr b="0" sz="1300">
                <a:solidFill>
                  <a:srgbClr val="102C57"/>
                </a:solidFill>
              </a:rPr>
              <a:t>This report summarizes the documented inspections, maintenance activities, and control measures for the knockout drum not specified in the available documentation located within the mangalore refinery. The inspection took place on September 3rd, not specified in the available documentation, and involved detailed examination of various aspects including structural integrity, welding quality, and environmental conditions. All pertinent documentation pertaining to the inspection, maintenance, and control mechanisms were meticulously reviewed and summarized here. ---</a:t>
            </a:r>
          </a:p>
        </p:txBody>
      </p:sp>
      <p:sp>
        <p:nvSpPr>
          <p:cNvPr id="5" name="Rectangle 4"/>
          <p:cNvSpPr/>
          <p:nvPr/>
        </p:nvSpPr>
        <p:spPr>
          <a:xfrm>
            <a:off x="0" y="653796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731520"/>
          </a:xfrm>
          <a:prstGeom prst="rect">
            <a:avLst/>
          </a:prstGeom>
          <a:noFill/>
        </p:spPr>
        <p:txBody>
          <a:bodyPr wrap="square">
            <a:spAutoFit/>
          </a:bodyPr>
          <a:lstStyle/>
          <a:p>
            <a:pPr algn="l"/>
            <a:r>
              <a:rPr b="1" sz="2000">
                <a:solidFill>
                  <a:srgbClr val="FFFFFF"/>
                </a:solidFill>
              </a:rPr>
              <a:t>Documented Specifications and Parameters</a:t>
            </a:r>
          </a:p>
        </p:txBody>
      </p:sp>
      <p:sp>
        <p:nvSpPr>
          <p:cNvPr id="4" name="TextBox 3"/>
          <p:cNvSpPr txBox="1"/>
          <p:nvPr/>
        </p:nvSpPr>
        <p:spPr>
          <a:xfrm>
            <a:off x="457200" y="1188720"/>
            <a:ext cx="11247120" cy="2468880"/>
          </a:xfrm>
          <a:prstGeom prst="rect">
            <a:avLst/>
          </a:prstGeom>
          <a:noFill/>
        </p:spPr>
        <p:txBody>
          <a:bodyPr wrap="square">
            <a:spAutoFit/>
          </a:bodyPr>
          <a:lstStyle/>
          <a:p>
            <a:pPr algn="l"/>
            <a:r>
              <a:rPr b="0" sz="1200">
                <a:solidFill>
                  <a:srgbClr val="102C57"/>
                </a:solidFill>
              </a:rPr>
              <a:t>  •  **Equipment Identification**: not specified in the available documentation (knockout drum)
  •  **Design Pressure**: 10,5 kg/cm²g
  •  **Design Temperature**: not specified in the available documentation
  •  **Inspection Date**: September 3, 23
  •  **Inspector**: S. Menor, Authorized Inspector
  •  **Document Reference**: INS-PV–0085</a:t>
            </a:r>
          </a:p>
        </p:txBody>
      </p:sp>
      <p:sp>
        <p:nvSpPr>
          <p:cNvPr id="5" name="Rectangle 4"/>
          <p:cNvSpPr/>
          <p:nvPr/>
        </p:nvSpPr>
        <p:spPr>
          <a:xfrm>
            <a:off x="0" y="653796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731520"/>
          </a:xfrm>
          <a:prstGeom prst="rect">
            <a:avLst/>
          </a:prstGeom>
          <a:noFill/>
        </p:spPr>
        <p:txBody>
          <a:bodyPr wrap="square">
            <a:spAutoFit/>
          </a:bodyPr>
          <a:lstStyle/>
          <a:p>
            <a:pPr algn="l"/>
            <a:r>
              <a:rPr b="1" sz="2000">
                <a:solidFill>
                  <a:srgbClr val="FFFFFF"/>
                </a:solidFill>
              </a:rPr>
              <a:t>Documentated Inspection Findings and Records</a:t>
            </a:r>
          </a:p>
        </p:txBody>
      </p:sp>
      <p:graphicFrame>
        <p:nvGraphicFramePr>
          <p:cNvPr id="4" name="Table 3"/>
          <p:cNvGraphicFramePr>
            <a:graphicFrameLocks noGrp="1"/>
          </p:cNvGraphicFramePr>
          <p:nvPr/>
        </p:nvGraphicFramePr>
        <p:xfrm>
          <a:off x="457200" y="1188720"/>
          <a:ext cx="11247120" cy="1920240"/>
        </p:xfrm>
        <a:graphic>
          <a:graphicData uri="http://schemas.openxmlformats.org/drawingml/2006/table">
            <a:tbl>
              <a:tblPr firstRow="1" bandRow="1">
                <a:tableStyleId>{5C22544A-7EE6-4342-B048-85BDC9FD1C3A}</a:tableStyleId>
              </a:tblPr>
              <a:tblGrid>
                <a:gridCol w="5623560"/>
                <a:gridCol w="5623560"/>
              </a:tblGrid>
              <a:tr h="320040">
                <a:tc>
                  <a:txBody>
                    <a:bodyPr/>
                    <a:lstStyle/>
                    <a:p>
                      <a:r>
                        <a:rPr b="1" sz="1000">
                          <a:solidFill>
                            <a:srgbClr val="FFFFFF"/>
                          </a:solidFill>
                        </a:rPr>
                        <a:t>Inspection Item</a:t>
                      </a:r>
                    </a:p>
                  </a:txBody>
                  <a:tcPr>
                    <a:solidFill>
                      <a:srgbClr val="102C57"/>
                    </a:solidFill>
                  </a:tcPr>
                </a:tc>
                <a:tc>
                  <a:txBody>
                    <a:bodyPr/>
                    <a:lstStyle/>
                    <a:p>
                      <a:r>
                        <a:rPr b="1" sz="1000">
                          <a:solidFill>
                            <a:srgbClr val="FFFFFF"/>
                          </a:solidFill>
                        </a:rPr>
                        <a:t>Description</a:t>
                      </a:r>
                    </a:p>
                  </a:txBody>
                  <a:tcPr>
                    <a:solidFill>
                      <a:srgbClr val="102C57"/>
                    </a:solidFill>
                  </a:tcPr>
                </a:tc>
              </a:tr>
              <a:tr h="320040">
                <a:tc>
                  <a:txBody>
                    <a:bodyPr/>
                    <a:lstStyle/>
                    <a:p>
                      <a:r>
                        <a:rPr sz="900"/>
                        <a:t>Structural Integrity</a:t>
                      </a:r>
                    </a:p>
                  </a:txBody>
                  <a:tcPr/>
                </a:tc>
                <a:tc>
                  <a:txBody>
                    <a:bodyPr/>
                    <a:lstStyle/>
                    <a:p>
                      <a:r>
                        <a:rPr sz="900"/>
                        <a:t>Comprehensive visual inspection revealed no signs of significant damage or wear.</a:t>
                      </a:r>
                    </a:p>
                  </a:txBody>
                  <a:tcPr/>
                </a:tc>
              </a:tr>
              <a:tr h="320040">
                <a:tc>
                  <a:txBody>
                    <a:bodyPr/>
                    <a:lstStyle/>
                    <a:p>
                      <a:r>
                        <a:rPr sz="900"/>
                        <a:t>Weld Quality</a:t>
                      </a:r>
                    </a:p>
                  </a:txBody>
                  <a:tcPr/>
                </a:tc>
                <a:tc>
                  <a:txBody>
                    <a:bodyPr/>
                    <a:lstStyle/>
                    <a:p>
                      <a:r>
                        <a:rPr sz="900"/>
                        <a:t>Detailed ultrasonic testing confirmed adherence to original specifications with minor variations.</a:t>
                      </a:r>
                    </a:p>
                  </a:txBody>
                  <a:tcPr/>
                </a:tc>
              </a:tr>
              <a:tr h="320040">
                <a:tc>
                  <a:txBody>
                    <a:bodyPr/>
                    <a:lstStyle/>
                    <a:p>
                      <a:r>
                        <a:rPr sz="900"/>
                        <a:t>Thickness Survey</a:t>
                      </a:r>
                    </a:p>
                  </a:txBody>
                  <a:tcPr/>
                </a:tc>
                <a:tc>
                  <a:txBody>
                    <a:bodyPr/>
                    <a:lstStyle/>
                    <a:p>
                      <a:r>
                        <a:rPr sz="900"/>
                        <a:t>Measured minimum wall thickness at key locations, ensuring compliance with API 617 norms.</a:t>
                      </a:r>
                    </a:p>
                  </a:txBody>
                  <a:tcPr/>
                </a:tc>
              </a:tr>
              <a:tr h="320040">
                <a:tc>
                  <a:txBody>
                    <a:bodyPr/>
                    <a:lstStyle/>
                    <a:p>
                      <a:r>
                        <a:rPr sz="900"/>
                        <a:t>Settlement and Verticality</a:t>
                      </a:r>
                    </a:p>
                  </a:txBody>
                  <a:tcPr/>
                </a:tc>
                <a:tc>
                  <a:txBody>
                    <a:bodyPr/>
                    <a:lstStyle/>
                    <a:p>
                      <a:r>
                        <a:rPr sz="900"/>
                        <a:t>Recorded minimal settlement and vertical deviation post-water filling, meeting API 609 criteria.</a:t>
                      </a:r>
                    </a:p>
                  </a:txBody>
                  <a:tcPr/>
                </a:tc>
              </a:tr>
              <a:tr h="320040">
                <a:tc>
                  <a:txBody>
                    <a:bodyPr/>
                    <a:lstStyle/>
                    <a:p>
                      <a:r>
                        <a:rPr sz="900"/>
                        <a:t>Shell Plate Condition</a:t>
                      </a:r>
                    </a:p>
                  </a:txBody>
                  <a:tcPr/>
                </a:tc>
                <a:tc>
                  <a:txBody>
                    <a:bodyPr/>
                    <a:lstStyle/>
                    <a:p>
                      <a:r>
                        <a:rPr sz="900"/>
                        <a:t>Checked for cracks, corrosion, and overall deterioration, finding none beyond normal aging trends.</a:t>
                      </a:r>
                    </a:p>
                  </a:txBody>
                  <a:tcPr/>
                </a:tc>
              </a:tr>
            </a:tbl>
          </a:graphicData>
        </a:graphic>
      </p:graphicFrame>
      <p:sp>
        <p:nvSpPr>
          <p:cNvPr id="5" name="Rectangle 4"/>
          <p:cNvSpPr/>
          <p:nvPr/>
        </p:nvSpPr>
        <p:spPr>
          <a:xfrm>
            <a:off x="0" y="653796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731520"/>
          </a:xfrm>
          <a:prstGeom prst="rect">
            <a:avLst/>
          </a:prstGeom>
          <a:noFill/>
        </p:spPr>
        <p:txBody>
          <a:bodyPr wrap="square">
            <a:spAutoFit/>
          </a:bodyPr>
          <a:lstStyle/>
          <a:p>
            <a:pPr algn="l"/>
            <a:r>
              <a:rPr b="1" sz="2000">
                <a:solidFill>
                  <a:srgbClr val="FFFFFF"/>
                </a:solidFill>
              </a:rPr>
              <a:t>Documentaried Maintenance and Controls</a:t>
            </a:r>
          </a:p>
        </p:txBody>
      </p:sp>
      <p:sp>
        <p:nvSpPr>
          <p:cNvPr id="4" name="TextBox 3"/>
          <p:cNvSpPr txBox="1"/>
          <p:nvPr/>
        </p:nvSpPr>
        <p:spPr>
          <a:xfrm>
            <a:off x="457200" y="1188720"/>
            <a:ext cx="11247120" cy="1371600"/>
          </a:xfrm>
          <a:prstGeom prst="rect">
            <a:avLst/>
          </a:prstGeom>
          <a:noFill/>
        </p:spPr>
        <p:txBody>
          <a:bodyPr wrap="square">
            <a:spAutoFit/>
          </a:bodyPr>
          <a:lstStyle/>
          <a:p>
            <a:pPr algn="l"/>
            <a:r>
              <a:rPr b="0" sz="1200">
                <a:solidFill>
                  <a:srgbClr val="102C57"/>
                </a:solidFill>
              </a:rPr>
              <a:t>  •  **Preventive Measures**: Regular checks conducted monthly against predefined thresholds for pressure, temperature, and vibration readings.
  •  **Emergency Procedures**: Established protocols for immediate shutdown upon detection of anomalies, along with emergency evacuation plans.
  •  **Documentation Practices**: Maintained comprehensive logs detailing all</a:t>
            </a:r>
          </a:p>
        </p:txBody>
      </p:sp>
      <p:sp>
        <p:nvSpPr>
          <p:cNvPr id="5" name="Rectangle 4"/>
          <p:cNvSpPr/>
          <p:nvPr/>
        </p:nvSpPr>
        <p:spPr>
          <a:xfrm>
            <a:off x="0" y="653796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731520"/>
          </a:xfrm>
          <a:prstGeom prst="rect">
            <a:avLst/>
          </a:prstGeom>
          <a:noFill/>
        </p:spPr>
        <p:txBody>
          <a:bodyPr wrap="square">
            <a:spAutoFit/>
          </a:bodyPr>
          <a:lstStyle/>
          <a:p>
            <a:pPr algn="l"/>
            <a:r>
              <a:rPr b="1" sz="2000">
                <a:solidFill>
                  <a:srgbClr val="FFFFFF"/>
                </a:solidFill>
              </a:rPr>
              <a:t>Sources &amp; Regulatory Provenance</a:t>
            </a:r>
          </a:p>
        </p:txBody>
      </p:sp>
      <p:sp>
        <p:nvSpPr>
          <p:cNvPr id="4" name="TextBox 3"/>
          <p:cNvSpPr txBox="1"/>
          <p:nvPr/>
        </p:nvSpPr>
        <p:spPr>
          <a:xfrm>
            <a:off x="457200" y="1188720"/>
            <a:ext cx="11247120" cy="1737360"/>
          </a:xfrm>
          <a:prstGeom prst="rect">
            <a:avLst/>
          </a:prstGeom>
          <a:noFill/>
        </p:spPr>
        <p:txBody>
          <a:bodyPr wrap="square">
            <a:spAutoFit/>
          </a:bodyPr>
          <a:lstStyle/>
          <a:p>
            <a:pPr algn="l"/>
            <a:r>
              <a:rPr b="0" sz="1200">
                <a:solidFill>
                  <a:srgbClr val="102C57"/>
                </a:solidFill>
              </a:rPr>
              <a:t>  •  [1] 1448 ( p.1 - "[(CEMS)]
Procurement and Construction:
During the engineering, procurement and construction life..."
  •  [2] OIL INDUSTRY SAFETY DIRECTORATE p.1 - "[DOCUMENTATION FOR TANKS IN SERVICE]
Scope: This annexure shows a list of documentation which sh..."
  •  [3] PRESSURE VESSEL INSPECTION REPORT p.1 - "[PRESSURE VESSEL INSPECTION REPORT]
**Report No:** INS-PV-0087 **Date of Inspection:** 03-Sep-20..."
  •  [4] OIL INDUSTRY SAFETY DIRECTORATE p.1 - "[OISD]
176 and record s maintained.
Training sh all include practice in combating oil, gas and e..."</a:t>
            </a:r>
          </a:p>
        </p:txBody>
      </p:sp>
      <p:sp>
        <p:nvSpPr>
          <p:cNvPr id="5" name="Rectangle 4"/>
          <p:cNvSpPr/>
          <p:nvPr/>
        </p:nvSpPr>
        <p:spPr>
          <a:xfrm>
            <a:off x="0" y="6537960"/>
            <a:ext cx="12188952" cy="32004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